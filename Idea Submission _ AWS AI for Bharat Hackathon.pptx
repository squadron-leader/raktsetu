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</p:sldIdLst>
  <p:sldSz cx="9144000" cy="5143500" type="screen16x9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8FB"/>
          </a:solidFill>
        </a:fill>
      </a:tcStyle>
    </a:wholeTbl>
    <a:band2H>
      <a:tcTxStyle/>
      <a:tcStyle>
        <a:tcBdr/>
        <a:fill>
          <a:solidFill>
            <a:srgbClr val="E8EDFD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5DBDE"/>
          </a:solidFill>
        </a:fill>
      </a:tcStyle>
    </a:wholeTbl>
    <a:band2H>
      <a:tcTxStyle/>
      <a:tcStyle>
        <a:tcBdr/>
        <a:fill>
          <a:solidFill>
            <a:srgbClr val="EBEEE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8FFCD"/>
          </a:solidFill>
        </a:fill>
      </a:tcStyle>
    </a:wholeTbl>
    <a:band2H>
      <a:tcTxStyle/>
      <a:tcStyle>
        <a:tcBdr/>
        <a:fill>
          <a:solidFill>
            <a:srgbClr val="FCFF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hape 10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7" name="Shape 10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j-lt"/>
        <a:ea typeface="+mj-ea"/>
        <a:cs typeface="+mj-cs"/>
        <a:sym typeface="Arial"/>
      </a:defRPr>
    </a:lvl1pPr>
    <a:lvl2pPr indent="228600" latinLnBrk="0">
      <a:defRPr sz="1400">
        <a:latin typeface="+mj-lt"/>
        <a:ea typeface="+mj-ea"/>
        <a:cs typeface="+mj-cs"/>
        <a:sym typeface="Arial"/>
      </a:defRPr>
    </a:lvl2pPr>
    <a:lvl3pPr indent="457200" latinLnBrk="0">
      <a:defRPr sz="1400">
        <a:latin typeface="+mj-lt"/>
        <a:ea typeface="+mj-ea"/>
        <a:cs typeface="+mj-cs"/>
        <a:sym typeface="Arial"/>
      </a:defRPr>
    </a:lvl3pPr>
    <a:lvl4pPr indent="685800" latinLnBrk="0">
      <a:defRPr sz="1400">
        <a:latin typeface="+mj-lt"/>
        <a:ea typeface="+mj-ea"/>
        <a:cs typeface="+mj-cs"/>
        <a:sym typeface="Arial"/>
      </a:defRPr>
    </a:lvl4pPr>
    <a:lvl5pPr indent="914400" latinLnBrk="0">
      <a:defRPr sz="1400">
        <a:latin typeface="+mj-lt"/>
        <a:ea typeface="+mj-ea"/>
        <a:cs typeface="+mj-cs"/>
        <a:sym typeface="Arial"/>
      </a:defRPr>
    </a:lvl5pPr>
    <a:lvl6pPr indent="1143000" latinLnBrk="0">
      <a:defRPr sz="1400">
        <a:latin typeface="+mj-lt"/>
        <a:ea typeface="+mj-ea"/>
        <a:cs typeface="+mj-cs"/>
        <a:sym typeface="Arial"/>
      </a:defRPr>
    </a:lvl6pPr>
    <a:lvl7pPr indent="1371600" latinLnBrk="0">
      <a:defRPr sz="1400">
        <a:latin typeface="+mj-lt"/>
        <a:ea typeface="+mj-ea"/>
        <a:cs typeface="+mj-cs"/>
        <a:sym typeface="Arial"/>
      </a:defRPr>
    </a:lvl7pPr>
    <a:lvl8pPr indent="1600200" latinLnBrk="0">
      <a:defRPr sz="1400">
        <a:latin typeface="+mj-lt"/>
        <a:ea typeface="+mj-ea"/>
        <a:cs typeface="+mj-cs"/>
        <a:sym typeface="Arial"/>
      </a:defRPr>
    </a:lvl8pPr>
    <a:lvl9pPr indent="1828800" latinLnBrk="0">
      <a:defRPr sz="1400">
        <a:latin typeface="+mj-lt"/>
        <a:ea typeface="+mj-ea"/>
        <a:cs typeface="+mj-cs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311708" y="744574"/>
            <a:ext cx="8520601" cy="2052601"/>
          </a:xfrm>
          <a:prstGeom prst="rect">
            <a:avLst/>
          </a:prstGeom>
        </p:spPr>
        <p:txBody>
          <a:bodyPr anchor="b"/>
          <a:lstStyle>
            <a:lvl1pPr algn="ctr">
              <a:defRPr sz="5200"/>
            </a:lvl1pPr>
          </a:lstStyle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11699" y="2834125"/>
            <a:ext cx="8520602" cy="792601"/>
          </a:xfrm>
          <a:prstGeom prst="rect">
            <a:avLst/>
          </a:prstGeom>
        </p:spPr>
        <p:txBody>
          <a:bodyPr/>
          <a:lstStyle>
            <a:lvl1pPr marL="342900" indent="-228600" algn="ctr">
              <a:lnSpc>
                <a:spcPct val="100000"/>
              </a:lnSpc>
              <a:buClrTx/>
              <a:buSzTx/>
              <a:buFontTx/>
              <a:buNone/>
              <a:defRPr sz="2800"/>
            </a:lvl1pPr>
            <a:lvl2pPr marL="342900" indent="254000" algn="ctr">
              <a:lnSpc>
                <a:spcPct val="100000"/>
              </a:lnSpc>
              <a:buClrTx/>
              <a:buSzTx/>
              <a:buFontTx/>
              <a:buNone/>
              <a:defRPr sz="2800"/>
            </a:lvl2pPr>
            <a:lvl3pPr marL="342900" indent="711200" algn="ctr">
              <a:lnSpc>
                <a:spcPct val="100000"/>
              </a:lnSpc>
              <a:buClrTx/>
              <a:buSzTx/>
              <a:buFontTx/>
              <a:buNone/>
              <a:defRPr sz="2800"/>
            </a:lvl3pPr>
            <a:lvl4pPr marL="342900" indent="1168400" algn="ctr">
              <a:lnSpc>
                <a:spcPct val="100000"/>
              </a:lnSpc>
              <a:buClrTx/>
              <a:buSzTx/>
              <a:buFontTx/>
              <a:buNone/>
              <a:defRPr sz="2800"/>
            </a:lvl4pPr>
            <a:lvl5pPr marL="342900" indent="1625600" algn="ctr">
              <a:lnSpc>
                <a:spcPct val="100000"/>
              </a:lnSpc>
              <a:buClrTx/>
              <a:buSzTx/>
              <a:buFontTx/>
              <a:buNone/>
              <a:defRPr sz="2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xfrm>
            <a:off x="311699" y="2150849"/>
            <a:ext cx="8520602" cy="841801"/>
          </a:xfrm>
          <a:prstGeom prst="rect">
            <a:avLst/>
          </a:prstGeom>
        </p:spPr>
        <p:txBody>
          <a:bodyPr anchor="ctr"/>
          <a:lstStyle>
            <a:lvl1pPr algn="ctr">
              <a:defRPr sz="3600"/>
            </a:lvl1pPr>
          </a:lstStyle>
          <a:p>
            <a:r>
              <a:t>Title Text</a:t>
            </a:r>
          </a:p>
        </p:txBody>
      </p:sp>
      <p:sp>
        <p:nvSpPr>
          <p:cNvPr id="2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9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8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311699" y="1152475"/>
            <a:ext cx="3999902" cy="3416400"/>
          </a:xfrm>
          <a:prstGeom prst="rect">
            <a:avLst/>
          </a:prstGeom>
        </p:spPr>
        <p:txBody>
          <a:bodyPr/>
          <a:lstStyle>
            <a:lvl1pPr indent="-317500">
              <a:buSzPts val="1400"/>
              <a:defRPr sz="1400"/>
            </a:lvl1pPr>
            <a:lvl2pPr marL="965200" indent="-355600">
              <a:buSzPts val="1400"/>
              <a:defRPr sz="1400"/>
            </a:lvl2pPr>
            <a:lvl3pPr marL="1422400" indent="-355600">
              <a:buSzPts val="1400"/>
              <a:defRPr sz="1400"/>
            </a:lvl3pPr>
            <a:lvl4pPr marL="1879600" indent="-355600">
              <a:buSzPts val="1400"/>
              <a:defRPr sz="1400"/>
            </a:lvl4pPr>
            <a:lvl5pPr marL="2336800" indent="-355600">
              <a:buSzPts val="1400"/>
              <a:defRPr sz="1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9" name="Google Shape;23;p5"/>
          <p:cNvSpPr txBox="1">
            <a:spLocks noGrp="1"/>
          </p:cNvSpPr>
          <p:nvPr>
            <p:ph type="body" sz="half" idx="21"/>
          </p:nvPr>
        </p:nvSpPr>
        <p:spPr>
          <a:xfrm>
            <a:off x="4832399" y="1152475"/>
            <a:ext cx="3999902" cy="3416400"/>
          </a:xfrm>
          <a:prstGeom prst="rect">
            <a:avLst/>
          </a:prstGeom>
        </p:spPr>
        <p:txBody>
          <a:bodyPr/>
          <a:lstStyle/>
          <a:p>
            <a:pPr indent="-317500">
              <a:buSzPts val="1400"/>
              <a:defRPr sz="1400"/>
            </a:pPr>
            <a:endParaRPr/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itle Text"/>
          <p:cNvSpPr txBox="1">
            <a:spLocks noGrp="1"/>
          </p:cNvSpPr>
          <p:nvPr>
            <p:ph type="title"/>
          </p:nvPr>
        </p:nvSpPr>
        <p:spPr>
          <a:xfrm>
            <a:off x="311699" y="555600"/>
            <a:ext cx="2808001" cy="7557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t>Title Text</a:t>
            </a:r>
          </a:p>
        </p:txBody>
      </p:sp>
      <p:sp>
        <p:nvSpPr>
          <p:cNvPr id="5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11699" y="1389599"/>
            <a:ext cx="2808001" cy="3179401"/>
          </a:xfrm>
          <a:prstGeom prst="rect">
            <a:avLst/>
          </a:prstGeom>
        </p:spPr>
        <p:txBody>
          <a:bodyPr/>
          <a:lstStyle>
            <a:lvl1pPr indent="-304800">
              <a:buSzPts val="1200"/>
              <a:defRPr sz="1200"/>
            </a:lvl1pPr>
            <a:lvl2pPr marL="914400" indent="-304800">
              <a:buSzPts val="1200"/>
              <a:defRPr sz="1200"/>
            </a:lvl2pPr>
            <a:lvl3pPr marL="1371600" indent="-304800">
              <a:buSzPts val="1200"/>
              <a:defRPr sz="1200"/>
            </a:lvl3pPr>
            <a:lvl4pPr marL="1828800" indent="-304800">
              <a:buSzPts val="1200"/>
              <a:defRPr sz="1200"/>
            </a:lvl4pPr>
            <a:lvl5pPr marL="2286000" indent="-304800">
              <a:buSzPts val="1200"/>
              <a:defRPr sz="1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 Text"/>
          <p:cNvSpPr txBox="1">
            <a:spLocks noGrp="1"/>
          </p:cNvSpPr>
          <p:nvPr>
            <p:ph type="title"/>
          </p:nvPr>
        </p:nvSpPr>
        <p:spPr>
          <a:xfrm>
            <a:off x="490250" y="450149"/>
            <a:ext cx="6367801" cy="4090801"/>
          </a:xfrm>
          <a:prstGeom prst="rect">
            <a:avLst/>
          </a:prstGeom>
        </p:spPr>
        <p:txBody>
          <a:bodyPr anchor="ctr"/>
          <a:lstStyle>
            <a:lvl1pPr>
              <a:defRPr sz="4800"/>
            </a:lvl1pPr>
          </a:lstStyle>
          <a:p>
            <a:r>
              <a:t>Title Text</a:t>
            </a:r>
          </a:p>
        </p:txBody>
      </p:sp>
      <p:sp>
        <p:nvSpPr>
          <p:cNvPr id="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36;p9"/>
          <p:cNvSpPr/>
          <p:nvPr/>
        </p:nvSpPr>
        <p:spPr>
          <a:xfrm>
            <a:off x="4572000" y="-125"/>
            <a:ext cx="4572000" cy="5143501"/>
          </a:xfrm>
          <a:prstGeom prst="rect">
            <a:avLst/>
          </a:prstGeom>
          <a:solidFill>
            <a:srgbClr val="EEEEEE"/>
          </a:solidFill>
          <a:ln w="12700">
            <a:miter lim="400000"/>
          </a:ln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73" name="Title Text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1"/>
          </a:xfrm>
          <a:prstGeom prst="rect">
            <a:avLst/>
          </a:prstGeom>
        </p:spPr>
        <p:txBody>
          <a:bodyPr anchor="b"/>
          <a:lstStyle>
            <a:lvl1pPr algn="ctr">
              <a:defRPr sz="4200"/>
            </a:lvl1pPr>
          </a:lstStyle>
          <a:p>
            <a:r>
              <a:t>Title Text</a:t>
            </a:r>
          </a:p>
        </p:txBody>
      </p:sp>
      <p:sp>
        <p:nvSpPr>
          <p:cNvPr id="7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265500" y="2803075"/>
            <a:ext cx="4045200" cy="1235101"/>
          </a:xfrm>
          <a:prstGeom prst="rect">
            <a:avLst/>
          </a:prstGeom>
        </p:spPr>
        <p:txBody>
          <a:bodyPr/>
          <a:lstStyle>
            <a:lvl1pPr marL="342900" indent="-228600" algn="ctr">
              <a:lnSpc>
                <a:spcPct val="100000"/>
              </a:lnSpc>
              <a:buClrTx/>
              <a:buSzTx/>
              <a:buFontTx/>
              <a:buNone/>
              <a:defRPr sz="2100"/>
            </a:lvl1pPr>
            <a:lvl2pPr marL="342900" indent="254000" algn="ctr">
              <a:lnSpc>
                <a:spcPct val="100000"/>
              </a:lnSpc>
              <a:buClrTx/>
              <a:buSzTx/>
              <a:buFontTx/>
              <a:buNone/>
              <a:defRPr sz="2100"/>
            </a:lvl2pPr>
            <a:lvl3pPr marL="342900" indent="711200" algn="ctr">
              <a:lnSpc>
                <a:spcPct val="100000"/>
              </a:lnSpc>
              <a:buClrTx/>
              <a:buSzTx/>
              <a:buFontTx/>
              <a:buNone/>
              <a:defRPr sz="2100"/>
            </a:lvl3pPr>
            <a:lvl4pPr marL="342900" indent="1168400" algn="ctr">
              <a:lnSpc>
                <a:spcPct val="100000"/>
              </a:lnSpc>
              <a:buClrTx/>
              <a:buSzTx/>
              <a:buFontTx/>
              <a:buNone/>
              <a:defRPr sz="2100"/>
            </a:lvl4pPr>
            <a:lvl5pPr marL="342900" indent="1625600" algn="ctr">
              <a:lnSpc>
                <a:spcPct val="100000"/>
              </a:lnSpc>
              <a:buClrTx/>
              <a:buSzTx/>
              <a:buFontTx/>
              <a:buNone/>
              <a:defRPr sz="21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5" name="Google Shape;39;p9"/>
          <p:cNvSpPr txBox="1">
            <a:spLocks noGrp="1"/>
          </p:cNvSpPr>
          <p:nvPr>
            <p:ph type="body" sz="half" idx="21"/>
          </p:nvPr>
        </p:nvSpPr>
        <p:spPr>
          <a:xfrm>
            <a:off x="4939500" y="724074"/>
            <a:ext cx="3837000" cy="3695102"/>
          </a:xfrm>
          <a:prstGeom prst="rect">
            <a:avLst/>
          </a:prstGeom>
        </p:spPr>
        <p:txBody>
          <a:bodyPr anchor="ctr"/>
          <a:lstStyle/>
          <a:p>
            <a:endParaRPr/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11699" y="4230575"/>
            <a:ext cx="5998802" cy="605101"/>
          </a:xfrm>
          <a:prstGeom prst="rect">
            <a:avLst/>
          </a:prstGeom>
        </p:spPr>
        <p:txBody>
          <a:bodyPr anchor="ctr"/>
          <a:lstStyle>
            <a:lvl1pPr marL="228600" indent="0">
              <a:lnSpc>
                <a:spcPct val="100000"/>
              </a:lnSpc>
              <a:buClrTx/>
              <a:buSzTx/>
              <a:buFontTx/>
              <a:buNone/>
            </a:lvl1pPr>
            <a:lvl2pPr>
              <a:lnSpc>
                <a:spcPct val="100000"/>
              </a:lnSpc>
              <a:buClrTx/>
              <a:buFontTx/>
            </a:lvl2pPr>
            <a:lvl3pPr>
              <a:lnSpc>
                <a:spcPct val="100000"/>
              </a:lnSpc>
              <a:buClrTx/>
              <a:buFontTx/>
            </a:lvl3pPr>
            <a:lvl4pPr>
              <a:lnSpc>
                <a:spcPct val="100000"/>
              </a:lnSpc>
              <a:buClrTx/>
              <a:buFontTx/>
            </a:lvl4pPr>
            <a:lvl5pPr>
              <a:lnSpc>
                <a:spcPct val="100000"/>
              </a:lnSpc>
              <a:buClrTx/>
              <a:buFontTx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xx%"/>
          <p:cNvSpPr txBox="1">
            <a:spLocks noGrp="1"/>
          </p:cNvSpPr>
          <p:nvPr>
            <p:ph type="title" hasCustomPrompt="1"/>
          </p:nvPr>
        </p:nvSpPr>
        <p:spPr>
          <a:xfrm>
            <a:off x="311699" y="1106125"/>
            <a:ext cx="8520602" cy="1963500"/>
          </a:xfrm>
          <a:prstGeom prst="rect">
            <a:avLst/>
          </a:prstGeom>
        </p:spPr>
        <p:txBody>
          <a:bodyPr anchor="b"/>
          <a:lstStyle>
            <a:lvl1pPr algn="ctr">
              <a:defRPr sz="12000"/>
            </a:lvl1pPr>
          </a:lstStyle>
          <a:p>
            <a:r>
              <a:t>xx%</a:t>
            </a:r>
          </a:p>
        </p:txBody>
      </p:sp>
      <p:sp>
        <p:nvSpPr>
          <p:cNvPr id="92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311699" y="3152225"/>
            <a:ext cx="8520602" cy="130080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algn="ctr"/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311699" y="445025"/>
            <a:ext cx="8520602" cy="572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4" tIns="91424" rIns="91424" bIns="91424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311699" y="1152475"/>
            <a:ext cx="8520602" cy="3416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4" tIns="91424" rIns="91424" bIns="91424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684345" y="4700819"/>
            <a:ext cx="336813" cy="318396"/>
          </a:xfrm>
          <a:prstGeom prst="rect">
            <a:avLst/>
          </a:prstGeom>
          <a:ln w="12700">
            <a:miter lim="400000"/>
          </a:ln>
        </p:spPr>
        <p:txBody>
          <a:bodyPr wrap="none" lIns="91424" tIns="91424" rIns="91424" bIns="91424" anchor="ctr">
            <a:normAutofit/>
          </a:bodyPr>
          <a:lstStyle>
            <a:lvl1pPr algn="r">
              <a:defRPr sz="1000">
                <a:solidFill>
                  <a:schemeClr val="accent2">
                    <a:lumOff val="21764"/>
                  </a:schemeClr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9pPr>
    </p:titleStyle>
    <p:bodyStyle>
      <a:lvl1pPr marL="457200" marR="0" indent="-342900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●"/>
        <a:tabLst/>
        <a:defRPr sz="1800" b="0" i="0" u="none" strike="noStrike" cap="none" spc="0" baseline="0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1pPr>
      <a:lvl2pPr marL="10051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○"/>
        <a:tabLst/>
        <a:defRPr sz="1800" b="0" i="0" u="none" strike="noStrike" cap="none" spc="0" baseline="0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2pPr>
      <a:lvl3pPr marL="14623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■"/>
        <a:tabLst/>
        <a:defRPr sz="1800" b="0" i="0" u="none" strike="noStrike" cap="none" spc="0" baseline="0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3pPr>
      <a:lvl4pPr marL="19195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●"/>
        <a:tabLst/>
        <a:defRPr sz="1800" b="0" i="0" u="none" strike="noStrike" cap="none" spc="0" baseline="0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4pPr>
      <a:lvl5pPr marL="23767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○"/>
        <a:tabLst/>
        <a:defRPr sz="1800" b="0" i="0" u="none" strike="noStrike" cap="none" spc="0" baseline="0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5pPr>
      <a:lvl6pPr marL="28339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■"/>
        <a:tabLst/>
        <a:defRPr sz="1800" b="0" i="0" u="none" strike="noStrike" cap="none" spc="0" baseline="0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6pPr>
      <a:lvl7pPr marL="32911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●"/>
        <a:tabLst/>
        <a:defRPr sz="1800" b="0" i="0" u="none" strike="noStrike" cap="none" spc="0" baseline="0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7pPr>
      <a:lvl8pPr marL="37483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○"/>
        <a:tabLst/>
        <a:defRPr sz="1800" b="0" i="0" u="none" strike="noStrike" cap="none" spc="0" baseline="0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8pPr>
      <a:lvl9pPr marL="42055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■"/>
        <a:tabLst/>
        <a:defRPr sz="1800" b="0" i="0" u="none" strike="noStrike" cap="none" spc="0" baseline="0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Artscfghgboard – 5.pngGoogle Shape;54;p13" descr="Artscfghgboard – 5.pngGoogle Shape;54;p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18" cy="5143502"/>
          </a:xfrm>
          <a:prstGeom prst="rect">
            <a:avLst/>
          </a:prstGeom>
          <a:ln w="12700">
            <a:miter lim="400000"/>
          </a:ln>
        </p:spPr>
      </p:pic>
      <p:sp>
        <p:nvSpPr>
          <p:cNvPr id="110" name="Google Shape;55;p13"/>
          <p:cNvSpPr txBox="1"/>
          <p:nvPr/>
        </p:nvSpPr>
        <p:spPr>
          <a:xfrm>
            <a:off x="383674" y="3446998"/>
            <a:ext cx="8520602" cy="44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4" tIns="91424" rIns="91424" bIns="91424">
            <a:normAutofit/>
          </a:bodyPr>
          <a:lstStyle>
            <a:lvl1pPr>
              <a:lnSpc>
                <a:spcPct val="80000"/>
              </a:lnSpc>
              <a:defRPr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1pPr>
          </a:lstStyle>
          <a:p>
            <a:r>
              <a:rPr dirty="0"/>
              <a:t>Team Name :</a:t>
            </a:r>
            <a:r>
              <a:rPr lang="en-IN" dirty="0"/>
              <a:t> </a:t>
            </a:r>
            <a:r>
              <a:rPr lang="en-IN" i="0" dirty="0" err="1">
                <a:solidFill>
                  <a:schemeClr val="tx1"/>
                </a:solidFill>
                <a:effectLst/>
              </a:rPr>
              <a:t>RaktSetu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11" name="Google Shape;56;p13"/>
          <p:cNvSpPr txBox="1"/>
          <p:nvPr/>
        </p:nvSpPr>
        <p:spPr>
          <a:xfrm>
            <a:off x="383679" y="4298160"/>
            <a:ext cx="8520602" cy="40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4" tIns="91424" rIns="91424" bIns="91424">
            <a:noAutofit/>
          </a:bodyPr>
          <a:lstStyle/>
          <a:p>
            <a:pPr defTabSz="822959">
              <a:lnSpc>
                <a:spcPct val="70000"/>
              </a:lnSpc>
              <a:defRPr sz="144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pPr>
            <a:r>
              <a:rPr sz="1600" dirty="0">
                <a:latin typeface="Manrope SemiBold"/>
              </a:rPr>
              <a:t>Problem Statement : </a:t>
            </a:r>
            <a:r>
              <a:rPr lang="en-US" sz="1600" b="0" i="0" dirty="0">
                <a:solidFill>
                  <a:srgbClr val="222222"/>
                </a:solidFill>
                <a:effectLst/>
                <a:latin typeface="Manrope SemiBold"/>
              </a:rPr>
              <a:t>Design an AI solution that improves efficiency, understanding, or support within healthcare or life-sciences ecosystems.</a:t>
            </a:r>
            <a:endParaRPr sz="1600" dirty="0">
              <a:latin typeface="Manrope SemiBold"/>
            </a:endParaRPr>
          </a:p>
        </p:txBody>
      </p:sp>
      <p:sp>
        <p:nvSpPr>
          <p:cNvPr id="112" name="Google Shape;57;p13"/>
          <p:cNvSpPr txBox="1"/>
          <p:nvPr/>
        </p:nvSpPr>
        <p:spPr>
          <a:xfrm>
            <a:off x="383662" y="3854458"/>
            <a:ext cx="8520602" cy="44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4" tIns="91424" rIns="91424" bIns="91424">
            <a:normAutofit/>
          </a:bodyPr>
          <a:lstStyle>
            <a:lvl1pPr>
              <a:lnSpc>
                <a:spcPct val="80000"/>
              </a:lnSpc>
              <a:defRPr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1pPr>
          </a:lstStyle>
          <a:p>
            <a:r>
              <a:rPr dirty="0"/>
              <a:t>Team Leader Name :</a:t>
            </a:r>
            <a:r>
              <a:rPr lang="en-IN" dirty="0"/>
              <a:t> AAYUSH KUMAR</a:t>
            </a:r>
            <a:endParaRPr dirty="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Artboarddfghjk – 6.pngGoogle Shape;62;p14" descr="Artboarddfghjk – 6.pngGoogle Shape;62;p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18" cy="5143502"/>
          </a:xfrm>
          <a:prstGeom prst="rect">
            <a:avLst/>
          </a:prstGeom>
          <a:ln w="12700">
            <a:miter lim="400000"/>
          </a:ln>
        </p:spPr>
      </p:pic>
      <p:sp>
        <p:nvSpPr>
          <p:cNvPr id="115" name="Google Shape;63;p14"/>
          <p:cNvSpPr txBox="1"/>
          <p:nvPr/>
        </p:nvSpPr>
        <p:spPr>
          <a:xfrm>
            <a:off x="311699" y="784287"/>
            <a:ext cx="8520602" cy="41165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4" tIns="91424" rIns="91424" bIns="91424">
            <a:normAutofit/>
          </a:bodyPr>
          <a:lstStyle/>
          <a:p>
            <a:pPr>
              <a:lnSpc>
                <a:spcPct val="115000"/>
              </a:lnSpc>
              <a:spcBef>
                <a:spcPts val="1200"/>
              </a:spcBef>
              <a:defRPr sz="1700" b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defRPr>
            </a:pPr>
            <a:r>
              <a:t>Brief about the Idea:</a:t>
            </a:r>
          </a:p>
          <a:p>
            <a:pPr marL="170447" indent="-170447" algn="just">
              <a:lnSpc>
                <a:spcPct val="115000"/>
              </a:lnSpc>
              <a:spcBef>
                <a:spcPts val="1200"/>
              </a:spcBef>
              <a:buSzPct val="100000"/>
              <a:buChar char="•"/>
              <a:defRPr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defRPr>
            </a:pPr>
            <a:r>
              <a:t>A GPS-enabled platform that connects patients and hospitals with the nearest available blood donors instantly, reducing emergency response time.</a:t>
            </a:r>
          </a:p>
          <a:p>
            <a:pPr marL="170447" indent="-170447" algn="just">
              <a:lnSpc>
                <a:spcPct val="115000"/>
              </a:lnSpc>
              <a:spcBef>
                <a:spcPts val="1200"/>
              </a:spcBef>
              <a:buSzPct val="100000"/>
              <a:buChar char="•"/>
              <a:defRPr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defRPr>
            </a:pPr>
            <a:r>
              <a:t>Automated alerts, reminders, and notifications ensure quick donor response and encourage regular blood donation.</a:t>
            </a:r>
          </a:p>
          <a:p>
            <a:pPr marL="170447" indent="-170447" algn="just">
              <a:lnSpc>
                <a:spcPct val="115000"/>
              </a:lnSpc>
              <a:spcBef>
                <a:spcPts val="1200"/>
              </a:spcBef>
              <a:buSzPct val="100000"/>
              <a:buChar char="•"/>
              <a:defRPr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defRPr>
            </a:pPr>
            <a:r>
              <a:t>Supports organization of blood donation camps and awareness programs to build a sustainable and active donor network.</a:t>
            </a:r>
          </a:p>
          <a:p>
            <a:pPr marL="170447" indent="-170447" algn="just">
              <a:lnSpc>
                <a:spcPct val="115000"/>
              </a:lnSpc>
              <a:spcBef>
                <a:spcPts val="1200"/>
              </a:spcBef>
              <a:buSzPct val="100000"/>
              <a:buChar char="•"/>
              <a:defRPr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defRPr>
            </a:pPr>
            <a:r>
              <a:t>Maintains safe digital records with privacy protection and uses AI (future scope) to predict blood demand and donor availability.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Artboarddfghjk – 6.pngGoogle Shape;68;p15" descr="Artboarddfghjk – 6.pngGoogle Shape;68;p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18" cy="5143502"/>
          </a:xfrm>
          <a:prstGeom prst="rect">
            <a:avLst/>
          </a:prstGeom>
          <a:ln w="12700">
            <a:miter lim="400000"/>
          </a:ln>
        </p:spPr>
      </p:pic>
      <p:sp>
        <p:nvSpPr>
          <p:cNvPr id="118" name="Google Shape;69;p15"/>
          <p:cNvSpPr txBox="1"/>
          <p:nvPr/>
        </p:nvSpPr>
        <p:spPr>
          <a:xfrm>
            <a:off x="191341" y="730425"/>
            <a:ext cx="8761318" cy="41183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4" tIns="91424" rIns="91424" bIns="91424">
            <a:normAutofit/>
          </a:bodyPr>
          <a:lstStyle/>
          <a:p>
            <a:pPr>
              <a:lnSpc>
                <a:spcPct val="140000"/>
              </a:lnSpc>
              <a:defRPr sz="1700" b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defRPr>
            </a:pPr>
            <a:r>
              <a:t>Your solution should be able to explain the following:</a:t>
            </a:r>
          </a:p>
          <a:p>
            <a:pPr marL="160421" indent="-160421" algn="just">
              <a:lnSpc>
                <a:spcPct val="115000"/>
              </a:lnSpc>
              <a:spcBef>
                <a:spcPts val="1200"/>
              </a:spcBef>
              <a:buSzPct val="100000"/>
              <a:buChar char="•"/>
              <a:defRPr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pPr>
            <a:r>
              <a:t>BloodSync Life uses real-time GPS technology to instantly identify and connect nearby donors with patients, unlike traditional manual and static systems.</a:t>
            </a:r>
          </a:p>
          <a:p>
            <a:pPr marL="160421" indent="-160421" algn="just">
              <a:lnSpc>
                <a:spcPct val="115000"/>
              </a:lnSpc>
              <a:spcBef>
                <a:spcPts val="1200"/>
              </a:spcBef>
              <a:buSzPct val="100000"/>
              <a:buChar char="•"/>
              <a:defRPr sz="1600"/>
            </a:pPr>
            <a:r>
              <a:t>It provides an all-in-one digital platform integrating emergency alerts, donor management, donation camps, and awareness programs.</a:t>
            </a:r>
            <a:endParaRPr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marL="160421" indent="-160421" algn="just">
              <a:lnSpc>
                <a:spcPct val="115000"/>
              </a:lnSpc>
              <a:spcBef>
                <a:spcPts val="1200"/>
              </a:spcBef>
              <a:buSzPct val="100000"/>
              <a:buChar char="•"/>
              <a:defRPr sz="1600"/>
            </a:pPr>
            <a:r>
              <a:t>The system reduces emergency response time through automatic matching and notifications, ensuring faster and reliable blood availability.</a:t>
            </a:r>
            <a:r>
              <a:rPr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h</a:t>
            </a:r>
          </a:p>
          <a:p>
            <a:pPr marL="160421" indent="-160421" algn="just">
              <a:lnSpc>
                <a:spcPct val="115000"/>
              </a:lnSpc>
              <a:spcBef>
                <a:spcPts val="1200"/>
              </a:spcBef>
              <a:buSzPct val="100000"/>
              <a:buChar char="•"/>
              <a:defRPr sz="1600"/>
            </a:pPr>
            <a:r>
              <a:t>Its AI-ready architecture and smart reminder system support donor retention, future demand prediction, and large-scale healthcare integration.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Artboarddfghjk – 6.pngGoogle Shape;74;p16" descr="Artboarddfghjk – 6.pngGoogle Shape;74;p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18" cy="5143502"/>
          </a:xfrm>
          <a:prstGeom prst="rect">
            <a:avLst/>
          </a:prstGeom>
          <a:ln w="12700">
            <a:miter lim="400000"/>
          </a:ln>
        </p:spPr>
      </p:pic>
      <p:sp>
        <p:nvSpPr>
          <p:cNvPr id="121" name="Google Shape;75;p16"/>
          <p:cNvSpPr txBox="1"/>
          <p:nvPr/>
        </p:nvSpPr>
        <p:spPr>
          <a:xfrm>
            <a:off x="200096" y="690972"/>
            <a:ext cx="5429564" cy="38123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4" tIns="91424" rIns="91424" bIns="91424">
            <a:normAutofit/>
          </a:bodyPr>
          <a:lstStyle/>
          <a:p>
            <a:pPr>
              <a:lnSpc>
                <a:spcPct val="140000"/>
              </a:lnSpc>
              <a:defRPr sz="1700" b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defRPr>
            </a:pPr>
            <a:r>
              <a:t>List of features offered by the solution</a:t>
            </a:r>
          </a:p>
          <a:p>
            <a:pPr marL="140368" indent="-140368" algn="just">
              <a:lnSpc>
                <a:spcPct val="115000"/>
              </a:lnSpc>
              <a:spcBef>
                <a:spcPts val="1200"/>
              </a:spcBef>
              <a:buSzPct val="100000"/>
              <a:buChar char="•"/>
              <a:defRPr>
                <a:solidFill>
                  <a:srgbClr val="434343"/>
                </a:solidFill>
                <a:latin typeface="Manrope"/>
                <a:ea typeface="Manrope"/>
                <a:cs typeface="Manrope"/>
                <a:sym typeface="Manrope"/>
              </a:defRPr>
            </a:pPr>
            <a:r>
              <a:t>Real-time GPS-based donor identification and emergency alert system for quick response.</a:t>
            </a:r>
          </a:p>
          <a:p>
            <a:pPr marL="140368" indent="-140368" algn="just">
              <a:lnSpc>
                <a:spcPct val="115000"/>
              </a:lnSpc>
              <a:spcBef>
                <a:spcPts val="1200"/>
              </a:spcBef>
              <a:buSzPct val="100000"/>
              <a:buChar char="•"/>
              <a:defRPr>
                <a:solidFill>
                  <a:srgbClr val="434343"/>
                </a:solidFill>
                <a:latin typeface="Manrope"/>
                <a:ea typeface="Manrope"/>
                <a:cs typeface="Manrope"/>
                <a:sym typeface="Manrope"/>
              </a:defRPr>
            </a:pPr>
            <a:r>
              <a:t>Integrated platform for donor registration, camp management, blood requests, and inventory tracking.</a:t>
            </a:r>
          </a:p>
          <a:p>
            <a:pPr marL="140368" indent="-140368" algn="just">
              <a:lnSpc>
                <a:spcPct val="115000"/>
              </a:lnSpc>
              <a:spcBef>
                <a:spcPts val="1200"/>
              </a:spcBef>
              <a:buSzPct val="100000"/>
              <a:buChar char="•"/>
              <a:defRPr>
                <a:solidFill>
                  <a:srgbClr val="434343"/>
                </a:solidFill>
                <a:latin typeface="Manrope"/>
                <a:ea typeface="Manrope"/>
                <a:cs typeface="Manrope"/>
                <a:sym typeface="Manrope"/>
              </a:defRPr>
            </a:pPr>
            <a:r>
              <a:t>Secure cloud-based database with admin control and automated notifications for regular donations.</a:t>
            </a:r>
          </a:p>
          <a:p>
            <a:pPr marL="140368" indent="-140368" algn="just">
              <a:lnSpc>
                <a:spcPct val="115000"/>
              </a:lnSpc>
              <a:spcBef>
                <a:spcPts val="1200"/>
              </a:spcBef>
              <a:buSzPct val="100000"/>
              <a:buChar char="•"/>
              <a:defRPr>
                <a:solidFill>
                  <a:srgbClr val="434343"/>
                </a:solidFill>
                <a:latin typeface="Manrope"/>
                <a:ea typeface="Manrope"/>
                <a:cs typeface="Manrope"/>
                <a:sym typeface="Manrope"/>
              </a:defRPr>
            </a:pPr>
            <a:r>
              <a:t>AI-ready and scalable system architecture for future demand prediction and nationwide deployment.</a:t>
            </a:r>
          </a:p>
        </p:txBody>
      </p:sp>
      <p:pic>
        <p:nvPicPr>
          <p:cNvPr id="122" name="Picture 1" descr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3094" y="820038"/>
            <a:ext cx="3460994" cy="381235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Artboarddfghjk – 6.pngGoogle Shape;80;p17" descr="Artboarddfghjk – 6.pngGoogle Shape;80;p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18" cy="5143502"/>
          </a:xfrm>
          <a:prstGeom prst="rect">
            <a:avLst/>
          </a:prstGeom>
          <a:ln w="12700">
            <a:miter lim="400000"/>
          </a:ln>
        </p:spPr>
      </p:pic>
      <p:sp>
        <p:nvSpPr>
          <p:cNvPr id="125" name="Google Shape;81;p17"/>
          <p:cNvSpPr txBox="1"/>
          <p:nvPr/>
        </p:nvSpPr>
        <p:spPr>
          <a:xfrm>
            <a:off x="82816" y="743603"/>
            <a:ext cx="4611730" cy="896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4" tIns="91424" rIns="91424" bIns="91424">
            <a:normAutofit/>
          </a:bodyPr>
          <a:lstStyle>
            <a:lvl1pPr algn="just">
              <a:lnSpc>
                <a:spcPct val="115000"/>
              </a:lnSpc>
              <a:defRPr sz="1700" b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defRPr>
            </a:lvl1pPr>
          </a:lstStyle>
          <a:p>
            <a:r>
              <a:t>Process flow diagram or Use-case diagram</a:t>
            </a:r>
          </a:p>
        </p:txBody>
      </p:sp>
      <p:pic>
        <p:nvPicPr>
          <p:cNvPr id="126" name="draw.png" descr="d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3914" y="1183797"/>
            <a:ext cx="5636172" cy="375744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Artboarddfghjk – 6.pngGoogle Shape;86;p18" descr="Artboarddfghjk – 6.pngGoogle Shape;86;p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18" cy="5143502"/>
          </a:xfrm>
          <a:prstGeom prst="rect">
            <a:avLst/>
          </a:prstGeom>
          <a:ln w="12700">
            <a:miter lim="400000"/>
          </a:ln>
        </p:spPr>
      </p:pic>
      <p:sp>
        <p:nvSpPr>
          <p:cNvPr id="129" name="Google Shape;87;p18"/>
          <p:cNvSpPr txBox="1"/>
          <p:nvPr/>
        </p:nvSpPr>
        <p:spPr>
          <a:xfrm>
            <a:off x="311700" y="774650"/>
            <a:ext cx="7069568" cy="487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4" tIns="91424" rIns="91424" bIns="91424">
            <a:normAutofit/>
          </a:bodyPr>
          <a:lstStyle>
            <a:lvl1pPr>
              <a:lnSpc>
                <a:spcPct val="115000"/>
              </a:lnSpc>
              <a:defRPr sz="1700" b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defRPr>
            </a:lvl1pPr>
          </a:lstStyle>
          <a:p>
            <a:r>
              <a:t>Wireframes/Mock diagrams of the proposed solution (optional)</a:t>
            </a:r>
          </a:p>
        </p:txBody>
      </p:sp>
      <p:pic>
        <p:nvPicPr>
          <p:cNvPr id="130" name="A person wearing a mask and a white coatDescription automatically generated" descr="A person wearing a mask and a white coatDescription automatically generat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638" y="1422163"/>
            <a:ext cx="3459105" cy="1563920"/>
          </a:xfrm>
          <a:prstGeom prst="rect">
            <a:avLst/>
          </a:prstGeom>
          <a:ln w="12700">
            <a:miter lim="400000"/>
          </a:ln>
        </p:spPr>
      </p:pic>
      <p:pic>
        <p:nvPicPr>
          <p:cNvPr id="131" name="A screenshot of a websiteDescription automatically generated" descr="A screenshot of a websiteDescription automatically generate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9215" y="1422163"/>
            <a:ext cx="3441895" cy="1563920"/>
          </a:xfrm>
          <a:prstGeom prst="rect">
            <a:avLst/>
          </a:prstGeom>
          <a:ln w="12700">
            <a:miter lim="400000"/>
          </a:ln>
        </p:spPr>
      </p:pic>
      <p:pic>
        <p:nvPicPr>
          <p:cNvPr id="132" name="A close-up of a handDescription automatically generated" descr="A close-up of a handDescription automatically generate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6781" y="3415530"/>
            <a:ext cx="3761755" cy="1563920"/>
          </a:xfrm>
          <a:prstGeom prst="rect">
            <a:avLst/>
          </a:prstGeom>
          <a:ln w="12700">
            <a:miter lim="400000"/>
          </a:ln>
        </p:spPr>
      </p:pic>
      <p:pic>
        <p:nvPicPr>
          <p:cNvPr id="133" name="A screenshot of a computerDescription automatically generated" descr="A screenshot of a computerDescription automatically generated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525" y="3347273"/>
            <a:ext cx="3459105" cy="164963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Artboarddfghjk – 6.pngGoogle Shape;92;p19" descr="Artboarddfghjk – 6.pngGoogle Shape;92;p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18" cy="5143502"/>
          </a:xfrm>
          <a:prstGeom prst="rect">
            <a:avLst/>
          </a:prstGeom>
          <a:ln w="12700">
            <a:miter lim="400000"/>
          </a:ln>
        </p:spPr>
      </p:pic>
      <p:sp>
        <p:nvSpPr>
          <p:cNvPr id="136" name="Google Shape;93;p19"/>
          <p:cNvSpPr txBox="1"/>
          <p:nvPr/>
        </p:nvSpPr>
        <p:spPr>
          <a:xfrm>
            <a:off x="311700" y="610349"/>
            <a:ext cx="8669537" cy="42966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4" tIns="91424" rIns="91424" bIns="91424">
            <a:normAutofit/>
          </a:bodyPr>
          <a:lstStyle>
            <a:lvl1pPr>
              <a:lnSpc>
                <a:spcPct val="115000"/>
              </a:lnSpc>
              <a:spcBef>
                <a:spcPts val="1200"/>
              </a:spcBef>
              <a:defRPr sz="1700" b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defRPr>
            </a:lvl1pPr>
          </a:lstStyle>
          <a:p>
            <a:r>
              <a:t>Architecture diagram of the proposed solution:</a:t>
            </a:r>
          </a:p>
        </p:txBody>
      </p:sp>
      <p:pic>
        <p:nvPicPr>
          <p:cNvPr id="137" name="A diagram of a buildingDescription automatically generated" descr="A diagram of a buildingDescription automatically generat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5580" y="1259234"/>
            <a:ext cx="6036527" cy="327831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Artboarddfghjk – 6.pngGoogle Shape;98;p20" descr="Artboarddfghjk – 6.pngGoogle Shape;98;p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18" cy="5143502"/>
          </a:xfrm>
          <a:prstGeom prst="rect">
            <a:avLst/>
          </a:prstGeom>
          <a:ln w="12700">
            <a:miter lim="400000"/>
          </a:ln>
        </p:spPr>
      </p:pic>
      <p:sp>
        <p:nvSpPr>
          <p:cNvPr id="140" name="Google Shape;99;p20"/>
          <p:cNvSpPr txBox="1"/>
          <p:nvPr/>
        </p:nvSpPr>
        <p:spPr>
          <a:xfrm>
            <a:off x="311699" y="820315"/>
            <a:ext cx="8520602" cy="36696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4" tIns="91424" rIns="91424" bIns="91424">
            <a:normAutofit/>
          </a:bodyPr>
          <a:lstStyle/>
          <a:p>
            <a:pPr defTabSz="850391">
              <a:lnSpc>
                <a:spcPct val="115000"/>
              </a:lnSpc>
              <a:spcBef>
                <a:spcPts val="1100"/>
              </a:spcBef>
              <a:defRPr sz="1488" b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defRPr>
            </a:pPr>
            <a:r>
              <a:t>Technologies to be used in the solution:</a:t>
            </a:r>
          </a:p>
          <a:p>
            <a:pPr marL="149191" indent="-149191" algn="just" defTabSz="850391">
              <a:lnSpc>
                <a:spcPct val="115000"/>
              </a:lnSpc>
              <a:spcBef>
                <a:spcPts val="1100"/>
              </a:spcBef>
              <a:buSzPct val="100000"/>
              <a:buChar char="•"/>
              <a:defRPr sz="1488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defRPr>
            </a:pPr>
            <a:r>
              <a:t>Frontend Development – HTML, CSS, JavaScript, React – for building a responsive and user-friendly interface.h</a:t>
            </a:r>
          </a:p>
          <a:p>
            <a:pPr marL="149191" indent="-149191" algn="just" defTabSz="850391">
              <a:lnSpc>
                <a:spcPct val="115000"/>
              </a:lnSpc>
              <a:spcBef>
                <a:spcPts val="1100"/>
              </a:spcBef>
              <a:buSzPct val="100000"/>
              <a:buChar char="•"/>
              <a:defRPr sz="1488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defRPr>
            </a:pPr>
            <a:r>
              <a:t>Backend Development – Node.js / Java – for handling server-side logic and system operations.</a:t>
            </a:r>
          </a:p>
          <a:p>
            <a:pPr marL="149191" indent="-149191" algn="just" defTabSz="850391">
              <a:lnSpc>
                <a:spcPct val="115000"/>
              </a:lnSpc>
              <a:spcBef>
                <a:spcPts val="1100"/>
              </a:spcBef>
              <a:buSzPct val="100000"/>
              <a:buChar char="•"/>
              <a:defRPr sz="1488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defRPr>
            </a:pPr>
            <a:r>
              <a:t>Database Management:PostgreSQL / MySQL – for secure storage and management of donor and blood inventory data.</a:t>
            </a:r>
          </a:p>
          <a:p>
            <a:pPr marL="149191" indent="-149191" algn="just" defTabSz="425195">
              <a:spcBef>
                <a:spcPts val="1100"/>
              </a:spcBef>
              <a:buSzPct val="100000"/>
              <a:buChar char="•"/>
              <a:defRPr sz="1488">
                <a:latin typeface="Manrope"/>
                <a:ea typeface="Manrope"/>
                <a:cs typeface="Manrope"/>
                <a:sym typeface="Manrope"/>
              </a:defRPr>
            </a:pPr>
            <a:r>
              <a:t>Cloud Platform: Amazon Web Services (AWS) – for hosting, scalability, and high availability.</a:t>
            </a:r>
          </a:p>
          <a:p>
            <a:pPr marL="149191" indent="-149191" algn="just" defTabSz="425195">
              <a:spcBef>
                <a:spcPts val="1100"/>
              </a:spcBef>
              <a:buSzPct val="100000"/>
              <a:buChar char="•"/>
              <a:defRPr sz="1488">
                <a:latin typeface="Manrope"/>
                <a:ea typeface="Manrope"/>
                <a:cs typeface="Manrope"/>
                <a:sym typeface="Manrope"/>
              </a:defRPr>
            </a:pPr>
            <a:r>
              <a:t>Location &amp; Map Services:Google Maps API – for GPS tracking and real-time donor location mapping.</a:t>
            </a:r>
          </a:p>
          <a:p>
            <a:pPr marL="149191" indent="-149191" algn="just" defTabSz="425195">
              <a:spcBef>
                <a:spcPts val="1100"/>
              </a:spcBef>
              <a:buSzPct val="100000"/>
              <a:buChar char="•"/>
              <a:defRPr sz="1488">
                <a:latin typeface="Manrope"/>
                <a:ea typeface="Manrope"/>
                <a:cs typeface="Manrope"/>
                <a:sym typeface="Manrope"/>
              </a:defRPr>
            </a:pPr>
            <a:r>
              <a:t>AI / Machine Learning (Future Scope):Python – for predictive analytics, donor matching, and demand forecasting.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Artboarddfghjk – 6.pngGoogle Shape;104;p21" descr="Artboarddfghjk – 6.pngGoogle Shape;104;p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18" cy="5143502"/>
          </a:xfrm>
          <a:prstGeom prst="rect">
            <a:avLst/>
          </a:prstGeom>
          <a:ln w="12700">
            <a:miter lim="400000"/>
          </a:ln>
        </p:spPr>
      </p:pic>
      <p:sp>
        <p:nvSpPr>
          <p:cNvPr id="143" name="Google Shape;105;p21"/>
          <p:cNvSpPr txBox="1"/>
          <p:nvPr/>
        </p:nvSpPr>
        <p:spPr>
          <a:xfrm>
            <a:off x="311700" y="863550"/>
            <a:ext cx="7531800" cy="366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4" tIns="91424" rIns="91424" bIns="91424">
            <a:normAutofit/>
          </a:bodyPr>
          <a:lstStyle/>
          <a:p>
            <a:pPr defTabSz="822959">
              <a:lnSpc>
                <a:spcPct val="115000"/>
              </a:lnSpc>
              <a:spcBef>
                <a:spcPts val="1000"/>
              </a:spcBef>
              <a:defRPr sz="1529" b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defRPr>
            </a:pPr>
            <a:r>
              <a:t>Estimated implementation cost (optional):</a:t>
            </a:r>
          </a:p>
          <a:p>
            <a:pPr marL="144378" indent="-144378" defTabSz="822959">
              <a:lnSpc>
                <a:spcPct val="115000"/>
              </a:lnSpc>
              <a:spcBef>
                <a:spcPts val="1000"/>
              </a:spcBef>
              <a:buSzPct val="100000"/>
              <a:buChar char="•"/>
              <a:defRPr sz="144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defRPr>
            </a:pPr>
            <a:r>
              <a:t>Software Development: ₹0 (Student-developed using open-source tools)</a:t>
            </a:r>
          </a:p>
          <a:p>
            <a:pPr marL="144378" indent="-144378" defTabSz="411479">
              <a:spcBef>
                <a:spcPts val="1000"/>
              </a:spcBef>
              <a:buSzPct val="100000"/>
              <a:buChar char="•"/>
              <a:defRPr sz="1440">
                <a:latin typeface="+mn-lt"/>
                <a:ea typeface="+mn-ea"/>
                <a:cs typeface="+mn-cs"/>
                <a:sym typeface="Helvetica"/>
              </a:defRPr>
            </a:pPr>
            <a:r>
              <a:t>Cloud Hosting (AWS Basic Tier): ₹1,500 – ₹2,000 per month</a:t>
            </a:r>
          </a:p>
          <a:p>
            <a:pPr marL="144378" indent="-144378" defTabSz="411479">
              <a:spcBef>
                <a:spcPts val="1000"/>
              </a:spcBef>
              <a:buSzPct val="100000"/>
              <a:buChar char="•"/>
              <a:defRPr sz="1440">
                <a:latin typeface="+mn-lt"/>
                <a:ea typeface="+mn-ea"/>
                <a:cs typeface="+mn-cs"/>
                <a:sym typeface="Helvetica"/>
              </a:defRPr>
            </a:pPr>
            <a:r>
              <a:t>Domain &amp; Security (SSL): ₹1,000 per year</a:t>
            </a:r>
          </a:p>
          <a:p>
            <a:pPr marL="144378" indent="-144378" defTabSz="411479">
              <a:spcBef>
                <a:spcPts val="1000"/>
              </a:spcBef>
              <a:buSzPct val="100000"/>
              <a:buChar char="•"/>
              <a:defRPr sz="1440">
                <a:latin typeface="+mn-lt"/>
                <a:ea typeface="+mn-ea"/>
                <a:cs typeface="+mn-cs"/>
                <a:sym typeface="Helvetica"/>
              </a:defRPr>
            </a:pPr>
            <a:r>
              <a:t>Database &amp; Storage Services: ₹500 – ₹1,000 per month</a:t>
            </a:r>
          </a:p>
          <a:p>
            <a:pPr marL="144378" indent="-144378" defTabSz="411479">
              <a:spcBef>
                <a:spcPts val="1000"/>
              </a:spcBef>
              <a:buSzPct val="100000"/>
              <a:buChar char="•"/>
              <a:defRPr sz="1440">
                <a:latin typeface="+mn-lt"/>
                <a:ea typeface="+mn-ea"/>
                <a:cs typeface="+mn-cs"/>
                <a:sym typeface="Helvetica"/>
              </a:defRPr>
            </a:pPr>
            <a:r>
              <a:t>Google Maps API (Free Tier): ₹0 – ₹500 per month</a:t>
            </a:r>
          </a:p>
          <a:p>
            <a:pPr marL="144378" indent="-144378" defTabSz="411479">
              <a:spcBef>
                <a:spcPts val="1000"/>
              </a:spcBef>
              <a:buSzPct val="100000"/>
              <a:buChar char="•"/>
              <a:defRPr sz="1440">
                <a:latin typeface="+mn-lt"/>
                <a:ea typeface="+mn-ea"/>
                <a:cs typeface="+mn-cs"/>
                <a:sym typeface="Helvetica"/>
              </a:defRPr>
            </a:pPr>
            <a:r>
              <a:t>Maintenance &amp; System Updates: ₹500 – ₹1,000 per month</a:t>
            </a:r>
          </a:p>
          <a:p>
            <a:pPr marL="144378" indent="-144378" defTabSz="411479">
              <a:spcBef>
                <a:spcPts val="1000"/>
              </a:spcBef>
              <a:buSzPct val="100000"/>
              <a:buChar char="•"/>
              <a:defRPr sz="1440">
                <a:latin typeface="+mn-lt"/>
                <a:ea typeface="+mn-ea"/>
                <a:cs typeface="+mn-cs"/>
                <a:sym typeface="Helvetica"/>
              </a:defRPr>
            </a:pPr>
            <a:r>
              <a:t>Total Estimated Cost: ₹3,000 – ₹5,000 per month</a:t>
            </a:r>
          </a:p>
          <a:p>
            <a:pPr marL="144378" indent="-144378" defTabSz="411479">
              <a:spcBef>
                <a:spcPts val="1000"/>
              </a:spcBef>
              <a:buSzPct val="100000"/>
              <a:buChar char="•"/>
              <a:defRPr sz="1440">
                <a:latin typeface="+mn-lt"/>
                <a:ea typeface="+mn-ea"/>
                <a:cs typeface="+mn-cs"/>
                <a:sym typeface="Helvetica"/>
              </a:defRPr>
            </a:pPr>
            <a:r>
              <a:t>Annual Cost (Approx.): ₹40,000 – ₹60,000</a:t>
            </a:r>
          </a:p>
          <a:p>
            <a:pPr marL="144378" indent="-144378" defTabSz="411479">
              <a:spcBef>
                <a:spcPts val="1000"/>
              </a:spcBef>
              <a:buSzPct val="100000"/>
              <a:buChar char="•"/>
              <a:defRPr sz="1440">
                <a:latin typeface="+mn-lt"/>
                <a:ea typeface="+mn-ea"/>
                <a:cs typeface="+mn-cs"/>
                <a:sym typeface="Helvetica"/>
              </a:defRPr>
            </a:pPr>
            <a:r>
              <a:t>Cost Optimization: Use of free tiers, open-source tools, and cloud scalability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AI for Bharddat BANNER – 5.pngGoogle Shape;116;p23" descr="AI for Bharddat BANNER – 5.pngGoogle Shape;116;p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18" cy="514350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528</Words>
  <Application>Microsoft Office PowerPoint</Application>
  <PresentationFormat>On-screen Show (16:9)</PresentationFormat>
  <Paragraphs>38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Manrope SemiBold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Aayush Kumar</cp:lastModifiedBy>
  <cp:revision>2</cp:revision>
  <dcterms:modified xsi:type="dcterms:W3CDTF">2026-02-07T06:06:28Z</dcterms:modified>
</cp:coreProperties>
</file>